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F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1820"/>
          </a:solidFill>
          <a:ln w="12700">
            <a:solidFill>
              <a:srgbClr val="C018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Booking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Model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11480" y="27432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B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Airways | Forage Data Science Virtual Experience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3218688"/>
            <a:ext cx="4114800" cy="36576"/>
          </a:xfrm>
          <a:prstGeom prst="rect">
            <a:avLst/>
          </a:prstGeom>
          <a:solidFill>
            <a:srgbClr val="C01820"/>
          </a:solidFill>
          <a:ln w="12700">
            <a:solidFill>
              <a:srgbClr val="C018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33832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50,000</a:t>
            </a:r>
            <a:pPr algn="l" indent="0" marL="0">
              <a:buNone/>
            </a:pPr>
            <a:r>
              <a:rPr lang="en-US" sz="1300" dirty="0">
                <a:solidFill>
                  <a:srgbClr val="A0BDE8"/>
                </a:solidFill>
              </a:rPr>
              <a:t> flight records  •  </a:t>
            </a:r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19</a:t>
            </a:r>
            <a:pPr algn="l" indent="0" marL="0">
              <a:buNone/>
            </a:pPr>
            <a:r>
              <a:rPr lang="en-US" sz="1300" dirty="0">
                <a:solidFill>
                  <a:srgbClr val="A0BDE8"/>
                </a:solidFill>
              </a:rPr>
              <a:t> features  •  </a:t>
            </a:r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Random Forest</a:t>
            </a:r>
            <a:pPr algn="l" indent="0" marL="0">
              <a:buNone/>
            </a:pPr>
            <a:r>
              <a:rPr lang="en-US" sz="1300" dirty="0">
                <a:solidFill>
                  <a:srgbClr val="A0BDE8"/>
                </a:solidFill>
              </a:rPr>
              <a:t> + 5-fold CV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766560" y="457200"/>
            <a:ext cx="2148840" cy="4206240"/>
          </a:xfrm>
          <a:prstGeom prst="rect">
            <a:avLst/>
          </a:prstGeom>
          <a:solidFill>
            <a:srgbClr val="0A2975"/>
          </a:solidFill>
          <a:ln w="12700">
            <a:solidFill>
              <a:srgbClr val="0A29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6858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858000" y="11612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16733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73.1%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858000" y="2148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0" y="2660904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63.1%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858000" y="31363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0" y="3648456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58000" y="412394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1F5B"/>
          </a:solidFill>
          <a:ln w="12700">
            <a:solidFill>
              <a:srgbClr val="001F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B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records • 13 features • 14.96% booking rate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2057400" cy="1005840"/>
          </a:xfrm>
          <a:prstGeom prst="rect">
            <a:avLst/>
          </a:prstGeom>
          <a:solidFill>
            <a:srgbClr val="001F5B"/>
          </a:solidFill>
          <a:ln w="12700">
            <a:solidFill>
              <a:srgbClr val="001F5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" y="7772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B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" y="105156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" y="137160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95728" y="731520"/>
            <a:ext cx="2057400" cy="1005840"/>
          </a:xfrm>
          <a:prstGeom prst="rect">
            <a:avLst/>
          </a:prstGeom>
          <a:solidFill>
            <a:srgbClr val="C01820"/>
          </a:solidFill>
          <a:ln w="12700">
            <a:solidFill>
              <a:srgbClr val="C0182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95728" y="7772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B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395728" y="105156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7,478 (14.96%)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95728" y="137160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Bookings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08576" y="731520"/>
            <a:ext cx="2057400" cy="10058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08576" y="7772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B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08576" y="105156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Dataset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08576" y="137160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21424" y="731520"/>
            <a:ext cx="2057400" cy="1005840"/>
          </a:xfrm>
          <a:prstGeom prst="rect">
            <a:avLst/>
          </a:prstGeom>
          <a:solidFill>
            <a:srgbClr val="3D85C8"/>
          </a:solidFill>
          <a:ln w="12700">
            <a:solidFill>
              <a:srgbClr val="3D85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21424" y="7772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B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21424" y="105156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(incl. engineered)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21424" y="137160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</a:t>
            </a:r>
            <a:endParaRPr lang="en-US" sz="9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1874520"/>
            <a:ext cx="8778240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1F5B"/>
          </a:solidFill>
          <a:ln w="12700">
            <a:solidFill>
              <a:srgbClr val="001F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Feature Engineering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57200" cy="457200"/>
          </a:xfrm>
          <a:prstGeom prst="rect">
            <a:avLst/>
          </a:prstGeom>
          <a:solidFill>
            <a:srgbClr val="C01820"/>
          </a:solidFill>
          <a:ln w="12700">
            <a:solidFill>
              <a:srgbClr val="C018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777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9808" y="7772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Exploration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101498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 distributions, class balance (85/15 split), categorical variables across 50K records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1783080"/>
            <a:ext cx="457200" cy="457200"/>
          </a:xfrm>
          <a:prstGeom prst="rect">
            <a:avLst/>
          </a:prstGeom>
          <a:solidFill>
            <a:srgbClr val="C01820"/>
          </a:solidFill>
          <a:ln w="12700">
            <a:solidFill>
              <a:srgbClr val="C018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17830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" y="202082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11 new features: log transforms, frequency encoding, interaction terms, binary flags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2880" y="2788920"/>
            <a:ext cx="457200" cy="457200"/>
          </a:xfrm>
          <a:prstGeom prst="rect">
            <a:avLst/>
          </a:prstGeom>
          <a:solidFill>
            <a:srgbClr val="C01820"/>
          </a:solidFill>
          <a:ln w="12700">
            <a:solidFill>
              <a:srgbClr val="C018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9808" y="27889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9808" y="302666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chosen for interpretability via feature importance &amp; strong ensemble performance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" y="3794760"/>
            <a:ext cx="457200" cy="457200"/>
          </a:xfrm>
          <a:prstGeom prst="rect">
            <a:avLst/>
          </a:prstGeom>
          <a:solidFill>
            <a:srgbClr val="C01820"/>
          </a:solidFill>
          <a:ln w="12700">
            <a:solidFill>
              <a:srgbClr val="C018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37947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9808" y="403250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stratified CV to handle class imbalance; class_weight='balanced' to equalise learning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685800"/>
            <a:ext cx="4206240" cy="4297680"/>
          </a:xfrm>
          <a:prstGeom prst="rect">
            <a:avLst/>
          </a:prstGeom>
          <a:solidFill>
            <a:srgbClr val="F2F4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74980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1179576"/>
            <a:ext cx="73152" cy="164592"/>
          </a:xfrm>
          <a:prstGeom prst="rect">
            <a:avLst/>
          </a:prstGeom>
          <a:solidFill>
            <a:srgbClr val="C01820"/>
          </a:solidFill>
          <a:ln w="12700">
            <a:solidFill>
              <a:srgbClr val="C018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114300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1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log_purchase_lead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766560" y="11430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Log(1+purchase_lead) — reduces right skew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846320" y="1453896"/>
            <a:ext cx="73152" cy="164592"/>
          </a:xfrm>
          <a:prstGeom prst="rect">
            <a:avLst/>
          </a:prstGeom>
          <a:solidFill>
            <a:srgbClr val="C01820"/>
          </a:solidFill>
          <a:ln w="12700">
            <a:solidFill>
              <a:srgbClr val="C018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141732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1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log_length_of_stay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766560" y="141732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Log(1+length_of_stay) — reduces right skew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846320" y="1728216"/>
            <a:ext cx="73152" cy="164592"/>
          </a:xfrm>
          <a:prstGeom prst="rect">
            <a:avLst/>
          </a:prstGeom>
          <a:solidFill>
            <a:srgbClr val="C01820"/>
          </a:solidFill>
          <a:ln w="12700">
            <a:solidFill>
              <a:srgbClr val="C018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169164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1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route_freq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766560" y="16916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popularity as fraction of all flights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846320" y="2002536"/>
            <a:ext cx="73152" cy="164592"/>
          </a:xfrm>
          <a:prstGeom prst="rect">
            <a:avLst/>
          </a:prstGeom>
          <a:solidFill>
            <a:srgbClr val="C01820"/>
          </a:solidFill>
          <a:ln w="12700">
            <a:solidFill>
              <a:srgbClr val="C018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19659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1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origin_freq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766560" y="19659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origin frequency encoding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846320" y="2276856"/>
            <a:ext cx="73152" cy="164592"/>
          </a:xfrm>
          <a:prstGeom prst="rect">
            <a:avLst/>
          </a:prstGeom>
          <a:solidFill>
            <a:srgbClr val="C01820"/>
          </a:solidFill>
          <a:ln w="12700">
            <a:solidFill>
              <a:srgbClr val="C018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22402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1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total_addons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766560" y="22402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3 add-on flags (0-3 scale)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846320" y="2551176"/>
            <a:ext cx="73152" cy="164592"/>
          </a:xfrm>
          <a:prstGeom prst="rect">
            <a:avLst/>
          </a:prstGeom>
          <a:solidFill>
            <a:srgbClr val="C01820"/>
          </a:solidFill>
          <a:ln w="12700">
            <a:solidFill>
              <a:srgbClr val="C018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83480" y="251460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1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is_weekend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766560" y="25146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or Sunday departure flag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846320" y="2825496"/>
            <a:ext cx="73152" cy="164592"/>
          </a:xfrm>
          <a:prstGeom prst="rect">
            <a:avLst/>
          </a:prstGeom>
          <a:solidFill>
            <a:srgbClr val="C01820"/>
          </a:solidFill>
          <a:ln w="12700">
            <a:solidFill>
              <a:srgbClr val="C018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83480" y="278892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1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is_mobile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766560" y="278892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vs Internet channel binary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846320" y="3099816"/>
            <a:ext cx="73152" cy="164592"/>
          </a:xfrm>
          <a:prstGeom prst="rect">
            <a:avLst/>
          </a:prstGeom>
          <a:solidFill>
            <a:srgbClr val="C01820"/>
          </a:solidFill>
          <a:ln w="12700">
            <a:solidFill>
              <a:srgbClr val="C0182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83480" y="306324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1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is_roundtrip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766560" y="30632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trip vs one-way binary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846320" y="3374136"/>
            <a:ext cx="73152" cy="164592"/>
          </a:xfrm>
          <a:prstGeom prst="rect">
            <a:avLst/>
          </a:prstGeom>
          <a:solidFill>
            <a:srgbClr val="C01820"/>
          </a:solidFill>
          <a:ln w="12700">
            <a:solidFill>
              <a:srgbClr val="C0182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83480" y="33375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1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is_peak_hour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766560" y="33375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06-09 or 17-20 departure flag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846320" y="3648456"/>
            <a:ext cx="73152" cy="164592"/>
          </a:xfrm>
          <a:prstGeom prst="rect">
            <a:avLst/>
          </a:prstGeom>
          <a:solidFill>
            <a:srgbClr val="C01820"/>
          </a:solidFill>
          <a:ln w="12700">
            <a:solidFill>
              <a:srgbClr val="C0182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83480" y="36118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1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pax_lead_interaction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766560" y="36118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 × log(lead time)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846320" y="3922776"/>
            <a:ext cx="73152" cy="164592"/>
          </a:xfrm>
          <a:prstGeom prst="rect">
            <a:avLst/>
          </a:prstGeom>
          <a:solidFill>
            <a:srgbClr val="C01820"/>
          </a:solidFill>
          <a:ln w="12700">
            <a:solidFill>
              <a:srgbClr val="C0182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83480" y="388620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1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flight_day_num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766560" y="38862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 week as 1–7 ordinal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1F5B"/>
          </a:solidFill>
          <a:ln w="12700">
            <a:solidFill>
              <a:srgbClr val="001F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— 5-Fold Cross-Validation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37160" y="685800"/>
            <a:ext cx="1627632" cy="1005840"/>
          </a:xfrm>
          <a:prstGeom prst="rect">
            <a:avLst/>
          </a:prstGeom>
          <a:solidFill>
            <a:srgbClr val="001F5B"/>
          </a:solidFill>
          <a:ln w="12700">
            <a:solidFill>
              <a:srgbClr val="001F5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" y="804672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" y="1234440"/>
            <a:ext cx="1627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7160" y="1435608"/>
            <a:ext cx="1627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±0.004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11096" y="685800"/>
            <a:ext cx="1627632" cy="1005840"/>
          </a:xfrm>
          <a:prstGeom prst="rect">
            <a:avLst/>
          </a:prstGeom>
          <a:solidFill>
            <a:srgbClr val="3D85C8"/>
          </a:solidFill>
          <a:ln w="12700">
            <a:solidFill>
              <a:srgbClr val="3D85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11096" y="804672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73.1%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911096" y="1234440"/>
            <a:ext cx="1627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11096" y="1435608"/>
            <a:ext cx="1627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±0.4%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85032" y="685800"/>
            <a:ext cx="1627632" cy="1005840"/>
          </a:xfrm>
          <a:prstGeom prst="rect">
            <a:avLst/>
          </a:prstGeom>
          <a:solidFill>
            <a:srgbClr val="C01820"/>
          </a:solidFill>
          <a:ln w="12700">
            <a:solidFill>
              <a:srgbClr val="C0182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85032" y="804672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63.1%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685032" y="1234440"/>
            <a:ext cx="1627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85032" y="1435608"/>
            <a:ext cx="1627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±1.6%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58968" y="685800"/>
            <a:ext cx="1627632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58968" y="804672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458968" y="1234440"/>
            <a:ext cx="1627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58968" y="1435608"/>
            <a:ext cx="1627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±0.005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232904" y="685800"/>
            <a:ext cx="1627632" cy="10058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32904" y="804672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30.6%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232904" y="1234440"/>
            <a:ext cx="1627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232904" y="1435608"/>
            <a:ext cx="1627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±0.4%</a:t>
            </a:r>
            <a:endParaRPr lang="en-US" sz="9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1828800"/>
            <a:ext cx="8778240" cy="31272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1F5B"/>
          </a:solidFill>
          <a:ln w="12700">
            <a:solidFill>
              <a:srgbClr val="001F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Discrimination Curves — ROC &amp; Precision-Recall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685800"/>
            <a:ext cx="877824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82880" y="4453128"/>
            <a:ext cx="2834640" cy="576072"/>
          </a:xfrm>
          <a:prstGeom prst="rect">
            <a:avLst/>
          </a:prstGeom>
          <a:solidFill>
            <a:srgbClr val="F2F4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82880" y="4453128"/>
            <a:ext cx="64008" cy="576072"/>
          </a:xfrm>
          <a:prstGeom prst="rect">
            <a:avLst/>
          </a:prstGeom>
          <a:solidFill>
            <a:srgbClr val="001F5B"/>
          </a:solidFill>
          <a:ln w="12700">
            <a:solidFill>
              <a:srgbClr val="001F5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448056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1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= 0.761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20040" y="46634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ability to rank booking vs non-booking customers. Significantly above 0.5 random baseline.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172968" y="4453128"/>
            <a:ext cx="2834640" cy="576072"/>
          </a:xfrm>
          <a:prstGeom prst="rect">
            <a:avLst/>
          </a:prstGeom>
          <a:solidFill>
            <a:srgbClr val="F2F4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172968" y="4453128"/>
            <a:ext cx="64008" cy="576072"/>
          </a:xfrm>
          <a:prstGeom prst="rect">
            <a:avLst/>
          </a:prstGeom>
          <a:solidFill>
            <a:srgbClr val="C01820"/>
          </a:solidFill>
          <a:ln w="12700">
            <a:solidFill>
              <a:srgbClr val="C0182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10128" y="448056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Precision = 0.357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310128" y="46634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the 15% base rate, this represents ~2.4× lift over random guessing.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63056" y="4453128"/>
            <a:ext cx="2834640" cy="576072"/>
          </a:xfrm>
          <a:prstGeom prst="rect">
            <a:avLst/>
          </a:prstGeom>
          <a:solidFill>
            <a:srgbClr val="F2F4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63056" y="4453128"/>
            <a:ext cx="64008" cy="576072"/>
          </a:xfrm>
          <a:prstGeom prst="rect">
            <a:avLst/>
          </a:prstGeom>
          <a:solidFill>
            <a:srgbClr val="3D85C8"/>
          </a:solidFill>
          <a:ln w="12700">
            <a:solidFill>
              <a:srgbClr val="3D85C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00216" y="448056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8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Handled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300216" y="46634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class_weight='balanced' corrects for 85/15 split; stratified CV maintains distribution.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1F5B"/>
          </a:solidFill>
          <a:ln w="12700">
            <a:solidFill>
              <a:srgbClr val="001F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— What Drives Booking Completion?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658368"/>
            <a:ext cx="5943600" cy="43159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72200" y="685800"/>
            <a:ext cx="2788920" cy="4297680"/>
          </a:xfrm>
          <a:prstGeom prst="rect">
            <a:avLst/>
          </a:prstGeom>
          <a:solidFill>
            <a:srgbClr val="F2F4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309360" y="7498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309360" y="1170432"/>
            <a:ext cx="292608" cy="292608"/>
          </a:xfrm>
          <a:prstGeom prst="rect">
            <a:avLst/>
          </a:prstGeom>
          <a:solidFill>
            <a:srgbClr val="C01820"/>
          </a:solidFill>
          <a:ln w="12700">
            <a:solidFill>
              <a:srgbClr val="C0182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09360" y="11704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647688" y="117043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Origin Freq  (32.2%)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647688" y="1426464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origins show distinct completion patterns — target strategy by origin.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309360" y="1956816"/>
            <a:ext cx="292608" cy="292608"/>
          </a:xfrm>
          <a:prstGeom prst="rect">
            <a:avLst/>
          </a:prstGeom>
          <a:solidFill>
            <a:srgbClr val="C01820"/>
          </a:solidFill>
          <a:ln w="12700">
            <a:solidFill>
              <a:srgbClr val="C0182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09360" y="19568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647688" y="19568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Frequency  (10.3%)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647688" y="221284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routes have higher completion — tailor promotions to route-level behaviour.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309360" y="2743200"/>
            <a:ext cx="292608" cy="292608"/>
          </a:xfrm>
          <a:prstGeom prst="rect">
            <a:avLst/>
          </a:prstGeom>
          <a:solidFill>
            <a:srgbClr val="C01820"/>
          </a:solidFill>
          <a:ln w="12700">
            <a:solidFill>
              <a:srgbClr val="C0182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09360" y="27432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647688" y="27432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Duration  (8.0%)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647688" y="2999232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flights see higher completion — passengers are more committed.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309360" y="3529584"/>
            <a:ext cx="292608" cy="292608"/>
          </a:xfrm>
          <a:prstGeom prst="rect">
            <a:avLst/>
          </a:prstGeom>
          <a:solidFill>
            <a:srgbClr val="C01820"/>
          </a:solidFill>
          <a:ln w="12700">
            <a:solidFill>
              <a:srgbClr val="C0182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09360" y="35295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647688" y="352958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of Stay  (7.3%)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647688" y="3785616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trips correlate with booking completion — leisure vs business signal.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309360" y="4315968"/>
            <a:ext cx="292608" cy="292608"/>
          </a:xfrm>
          <a:prstGeom prst="rect">
            <a:avLst/>
          </a:prstGeom>
          <a:solidFill>
            <a:srgbClr val="C01820"/>
          </a:solidFill>
          <a:ln w="12700">
            <a:solidFill>
              <a:srgbClr val="C0182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09360" y="43159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647688" y="431596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Lead Time  (5.6%)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647688" y="45720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bookers more likely to complete — target mid-funnel abandoners.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1F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Recommendations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C01820"/>
          </a:solidFill>
          <a:ln w="12700">
            <a:solidFill>
              <a:srgbClr val="C018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Summary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trained on 50,000 records with 19 features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stratified CV: ROC-AUC 0.761 ± 0.004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of 63% — captures most genuine bookers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 (origin/route freq, log transforms, interaction terms) contributed significantly to model power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class_weight='balanced' handles 85/15 imbalance effectively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754880" y="932688"/>
            <a:ext cx="36576" cy="3200400"/>
          </a:xfrm>
          <a:prstGeom prst="rect">
            <a:avLst/>
          </a:prstGeom>
          <a:solidFill>
            <a:srgbClr val="2A4A8A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9601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937760" y="1362456"/>
            <a:ext cx="91440" cy="256032"/>
          </a:xfrm>
          <a:prstGeom prst="rect">
            <a:avLst/>
          </a:prstGeom>
          <a:solidFill>
            <a:srgbClr val="C01820"/>
          </a:solidFill>
          <a:ln w="12700">
            <a:solidFill>
              <a:srgbClr val="C018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02352" y="13258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by Booking Origin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102352" y="1572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origins are most predictive — build segmented re-engagement campaigns.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937760" y="1965960"/>
            <a:ext cx="91440" cy="256032"/>
          </a:xfrm>
          <a:prstGeom prst="rect">
            <a:avLst/>
          </a:prstGeom>
          <a:solidFill>
            <a:srgbClr val="C01820"/>
          </a:solidFill>
          <a:ln w="12700">
            <a:solidFill>
              <a:srgbClr val="C018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02352" y="19293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Route-Level Promotions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02352" y="21762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routes have clearer completion patterns; personalise offers by route popularity.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937760" y="2569464"/>
            <a:ext cx="91440" cy="256032"/>
          </a:xfrm>
          <a:prstGeom prst="rect">
            <a:avLst/>
          </a:prstGeom>
          <a:solidFill>
            <a:srgbClr val="C01820"/>
          </a:solidFill>
          <a:ln w="12700">
            <a:solidFill>
              <a:srgbClr val="C018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02352" y="25328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Intervene at Lead Time Drop-off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02352" y="27797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booking early but not completing need targeted mid-funnel nudges.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937760" y="3172968"/>
            <a:ext cx="91440" cy="256032"/>
          </a:xfrm>
          <a:prstGeom prst="rect">
            <a:avLst/>
          </a:prstGeom>
          <a:solidFill>
            <a:srgbClr val="C01820"/>
          </a:solidFill>
          <a:ln w="12700">
            <a:solidFill>
              <a:srgbClr val="C018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02352" y="3136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Add-On Signals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02352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requesting add-ons are high-intent — prioritise conversion messaging.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937760" y="3776472"/>
            <a:ext cx="91440" cy="256032"/>
          </a:xfrm>
          <a:prstGeom prst="rect">
            <a:avLst/>
          </a:prstGeom>
          <a:solidFill>
            <a:srgbClr val="C01820"/>
          </a:solidFill>
          <a:ln w="12700">
            <a:solidFill>
              <a:srgbClr val="C018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02352" y="373989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UX Improvement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102352" y="398678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channel shows different completion rate — audit and improve the mobile booking flow.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154A"/>
          </a:solidFill>
          <a:ln w="12700">
            <a:solidFill>
              <a:srgbClr val="0015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663440"/>
            <a:ext cx="86868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Airways Forage Data Science  |  Task 2: Predictive Modelling  |  Random Forest + 5-fold CV  |  ROC-AUC: 0.761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 Booking Prediction Model</dc:title>
  <dc:subject>PptxGenJS Presentation</dc:subject>
  <dc:creator>PptxGenJS</dc:creator>
  <cp:lastModifiedBy>PptxGenJS</cp:lastModifiedBy>
  <cp:revision>1</cp:revision>
  <dcterms:created xsi:type="dcterms:W3CDTF">2026-04-21T20:22:12Z</dcterms:created>
  <dcterms:modified xsi:type="dcterms:W3CDTF">2026-04-21T20:22:12Z</dcterms:modified>
</cp:coreProperties>
</file>